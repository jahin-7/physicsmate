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914400" y="2194560"/>
            <a:ext cx="10360152" cy="146304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buNone/>
            </a:pPr>
            <a:r>
              <a:rPr lang="en-US" sz="5400" b="1" dirty="0">
                <a:solidFill>
                  <a:srgbClr val="14A8A0"/>
                </a:solidFill>
              </a:rPr>
              <a:t>PhysicsMate</a:t>
            </a:r>
          </a:p>
        </p:txBody>
      </p:sp>
      <p:sp>
        <p:nvSpPr>
          <p:cNvPr id="3" name="Sub"/>
          <p:cNvSpPr>
            <a:spLocks noGrp="1"/>
          </p:cNvSpPr>
          <p:nvPr/>
        </p:nvSpPr>
        <p:spPr>
          <a:xfrm>
            <a:off x="914400" y="3749039"/>
            <a:ext cx="10360152" cy="201168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buNone/>
            </a:pPr>
            <a:r>
              <a:rPr lang="en-US" sz="2000" dirty="0">
                <a:solidFill>
                  <a:srgbClr val="0D5750"/>
                </a:solidFill>
              </a:rPr>
              <a:t>Curriculum-Grounded Bengali Physics QA with Small Language Models</a:t>
            </a:r>
          </a:p>
          <a:p>
            <a:pPr algn="ctr">
              <a:buNone/>
            </a:pPr>
            <a:r>
              <a:rPr lang="en-US" sz="1500" dirty="0">
                <a:solidFill>
                  <a:srgbClr val="5A6A66"/>
                </a:solidFill>
              </a:rPr>
              <a:t>NCTB Grade 9-10  ·  Rashid Azraf &amp; Saadman Sajid</a:t>
            </a:r>
          </a:p>
          <a:p>
            <a:pPr algn="ctr">
              <a:buNone/>
            </a:pPr>
            <a:r>
              <a:rPr lang="en-US" sz="1500" dirty="0">
                <a:solidFill>
                  <a:srgbClr val="5A6A66"/>
                </a:solidFill>
              </a:rPr>
              <a:t>Final Project Presentation — August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The Problem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Bengali ~230M speakers, tiny presence in educational NLP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No curriculum-specific Bengali physics QA resource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Target users (BD classrooms) often have no reliable internet / weak hardware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So the real constraint is: offline, on cheap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Research Question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Can a small, curriculum-grounded dataset teach a SMALL model enough</a:t>
            </a:r>
          </a:p>
          <a:p>
            <a:pPr>
              <a:buNone/>
            </a:pPr>
            <a:r>
              <a:rPr lang="en-US" sz="1800" dirty="0">
                <a:solidFill>
                  <a:srgbClr val="1F2A28"/>
                </a:solidFill>
              </a:rPr>
              <a:t>   Bengali physics to be useful OFFLINE — and how does the benefit scale with size?</a:t>
            </a:r>
          </a:p>
          <a:p>
            <a:pPr>
              <a:buNone/>
            </a:p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Two outputs:  a reusable benchmark  +  a deployable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Data Pipeline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NCTB book scans  →  vision OCR  →  clean Markdown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811 text chunks across 13 chapters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Knowledge graph: 1,760 nodes / 2,600 edges (10 node types)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1,834 QA pairs, each grounded on a graph node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Split 1374 / 185 / 275  (seed 42, stratified, held-out test)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Data &amp; Model Journey: v1 → v2 → v3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v1  (rejected):  Tesseract OCR · 3,502 noisy chunks · 33-node chapter</a:t>
            </a:r>
          </a:p>
          <a:p>
            <a:pPr>
              <a:buNone/>
            </a:pPr>
            <a:r>
              <a:rPr lang="en-US" sz="1800" dirty="0">
                <a:solidFill>
                  <a:srgbClr val="1F2A28"/>
                </a:solidFill>
              </a:rPr>
              <a:t>     graph · QA scraped from question banks · agentic-RAG prototype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v2  (rebuilt):   vision OCR page-by-page · 811 clean chunks ·</a:t>
            </a:r>
          </a:p>
          <a:p>
            <a:pPr>
              <a:buNone/>
            </a:pPr>
            <a:r>
              <a:rPr lang="en-US" sz="1800" dirty="0">
                <a:solidFill>
                  <a:srgbClr val="1F2A28"/>
                </a:solidFill>
              </a:rPr>
              <a:t>     1,760-node concept graph · 1,834 QA grounded on graph nodes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v3  (shipped):   closed-book LoRA retrain at 0.6B / 1.7B / 4B →</a:t>
            </a:r>
          </a:p>
          <a:p>
            <a:pPr>
              <a:buNone/>
            </a:pPr>
            <a:r>
              <a:rPr lang="en-US" sz="1800" dirty="0">
                <a:solidFill>
                  <a:srgbClr val="1F2A28"/>
                </a:solidFill>
              </a:rPr>
              <a:t>     the deployed offline GGUF models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Each version fixed the previous one's rejected weakness.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Method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LoRA fine-tuning of 4-bit Qwen3 at 0.6B / 1.7B / 4B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Closed-book: no retrieval — isolates what the DATASET teaches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Only small adapters trained → feasible on one consumer machine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Headline Result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D5750"/>
                </a:solidFill>
              </a:rPr>
              <a:t>Fine-tuning wins at every size — and the gain grows with size</a:t>
            </a:r>
          </a:p>
          <a:p>
            <a:pPr>
              <a:buNone/>
            </a:p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Qwen3-0.6B :   0.0%  →   5.5%   accuracy   (+5.5 pp)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Qwen3-1.7B :  10.5%  →  25.5%   accuracy   (+15.0 pp)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Qwen3-4B   :  27.6%  →  50.9%   accuracy   (+23.3 pp)</a:t>
            </a:r>
          </a:p>
          <a:p>
            <a:pPr>
              <a:buNone/>
            </a:p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Same dataset, bigger model, bigger payoff  (n = 275 held-out)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What Went Wrong (and the Redo)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1st system was REJECTED in review — rebuilt from scratch:</a:t>
            </a:r>
          </a:p>
          <a:p>
            <a:pPr>
              <a:buNone/>
            </a:pPr>
            <a:r>
              <a:rPr lang="en-US" sz="1800" dirty="0">
                <a:solidFill>
                  <a:srgbClr val="1F2A28"/>
                </a:solidFill>
              </a:rPr>
              <a:t>   Tesseract OCR (garbled Bangla)   →   vision-model OCR, page by page</a:t>
            </a:r>
          </a:p>
          <a:p>
            <a:pPr>
              <a:buNone/>
            </a:pPr>
            <a:r>
              <a:rPr lang="en-US" sz="1800" dirty="0">
                <a:solidFill>
                  <a:srgbClr val="1F2A28"/>
                </a:solidFill>
              </a:rPr>
              <a:t>   33-node 'chapter graph'          →   1,760-node concept graph</a:t>
            </a:r>
          </a:p>
          <a:p>
            <a:pPr>
              <a:buNone/>
            </a:pPr>
            <a:r>
              <a:rPr lang="en-US" sz="1800" dirty="0">
                <a:solidFill>
                  <a:srgbClr val="1F2A28"/>
                </a:solidFill>
              </a:rPr>
              <a:t>   3,502 noisy chunks / scraped QA  →   811 clean chunks / 1,834 grounded QA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Fine-tuning failures: ~20 Kaggle GPU crashes; early LoRA lost to baseline</a:t>
            </a:r>
          </a:p>
          <a:p>
            <a:pPr>
              <a:buNone/>
            </a:pPr>
            <a:r>
              <a:rPr lang="en-US" sz="1800" dirty="0">
                <a:solidFill>
                  <a:srgbClr val="1F2A28"/>
                </a:solidFill>
              </a:rPr>
              <a:t>   (catastrophic forgetting); a broken eval run (nan scores) — discarded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Fix: clean closed-book retrain at 3 sizes, measured vs a frozen baseline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Honest &amp; Reproducible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Token-F1 + BERTScore are deterministic — verify.py re-derives &amp; asserts them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Accuracy = LLM-as-a-judge (MT-Bench protocol), to corroborate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n = 275, one fixed judge prompt across all 6 model variants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One command reproduces every deterministic number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Deployment  (live demo)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Each model → Q4_K_M GGUF (0.4 / 1.1 / 2.5 GB) → Ollama, fully offline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Local web app: switch 0.6B / 1.7B / 4B, streaming, Bangla + English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DEMO: ask one question, switch sizes, watch quality climb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Also Built: Hybrid RAG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BM25 + dense (BGE-M3) + graph → RRF fusion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Optimised pipeline: dedup, boundary stitching, verifier, refusal gate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Fine-tuned 4B reaches PARITY with RAG on a leakage-free subset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→ adaptation can reduce dependence on retrieval at inference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Takeaways &amp; Future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A reusable Bengali curriculum QA benchmark (1,834 QA, KG-grounded)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Fine-tuning helps at every size; payoff scales with capacity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Offline, 2.5 GB deployment for real classrooms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Next: HSC (11-12) via the KG bridge; human-rated test set</a:t>
            </a:r>
          </a:p>
          <a:p>
            <a:pPr>
              <a:buNone/>
            </a:p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D5750"/>
      </a:dk2>
      <a:lt2>
        <a:srgbClr val="E7F1EF"/>
      </a:lt2>
      <a:accent1>
        <a:srgbClr val="14A8A0"/>
      </a:accent1>
      <a:accent2>
        <a:srgbClr val="4FC0B5"/>
      </a:accent2>
      <a:accent3>
        <a:srgbClr val="0A6F6B"/>
      </a:accent3>
      <a:accent4>
        <a:srgbClr val="6FE0D5"/>
      </a:accent4>
      <a:accent5>
        <a:srgbClr val="2BB3AA"/>
      </a:accent5>
      <a:accent6>
        <a:srgbClr val="0D857F"/>
      </a:accent6>
      <a:hlink>
        <a:srgbClr val="14A8A0"/>
      </a:hlink>
      <a:folHlink>
        <a:srgbClr val="0A6F6B"/>
      </a:folHlink>
    </a:clrScheme>
    <a:fontScheme name="Offic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